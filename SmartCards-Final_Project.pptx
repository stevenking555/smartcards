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8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2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1" r:id="rId3"/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3.xml"/><Relationship Id="rId4" Type="http://schemas.openxmlformats.org/officeDocument/2006/relationships/slideMaster" Target="slideMasters/slideMaster26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A dia áthelyezéséhez kattintson ide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jegyzetformátum szerkesztéséhez kattintson ide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&lt;élőfej&gt;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3925011-7331-48B5-B52E-8962D749D735}" type="slidenum"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BBD94DB-3E16-4843-9B9A-E25F0B81B66B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5F2E513-1AA1-49FA-B046-C342C4F7A071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BAFEAB-B080-45E9-9A2D-FCE752A2654F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600" b="1" u="none" strike="noStrike">
                <a:solidFill>
                  <a:srgbClr val="FF0000"/>
                </a:solidFill>
                <a:effectLst/>
                <a:uFillTx/>
                <a:latin typeface="Bahnschrift"/>
              </a:rPr>
              <a:t>A probléma: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A hagyományos papíralapú tanulókártyák kezelése nehézkes, statikus, és nem nyújt visszajelzést a tanulás hatékonyságáról.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A meglévő tanulókártyás platformok felhasználó nem emberként kezelése.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F06561-DB16-45EF-8014-7CF5D815848F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600" b="1" u="none" strike="noStrike">
                <a:solidFill>
                  <a:srgbClr val="0CF600"/>
                </a:solidFill>
                <a:effectLst/>
                <a:uFillTx/>
                <a:latin typeface="Bahnschrift"/>
              </a:rPr>
              <a:t>A megoldás: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Egy </a:t>
            </a:r>
            <a:r>
              <a:rPr lang="hu-HU" sz="1200" b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digitális</a:t>
            </a:r>
            <a:r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, </a:t>
            </a:r>
            <a:r>
              <a:rPr lang="hu-HU" sz="1200" b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reszponzív</a:t>
            </a:r>
            <a:r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 platform, amely a </a:t>
            </a:r>
            <a:r>
              <a:rPr lang="hu-HU" sz="1200" b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gamifikáció</a:t>
            </a:r>
            <a:r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 (napi széria, motivációs/vicces idézetek) és a pontos </a:t>
            </a:r>
            <a:r>
              <a:rPr lang="hu-HU" sz="1200" b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statisztikák</a:t>
            </a:r>
            <a:r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 (tanulási idő, megtanult kártyák) segítségével teszi </a:t>
            </a:r>
            <a:r>
              <a:rPr lang="hu-HU" sz="1200" b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hatékonnyá</a:t>
            </a:r>
            <a:r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 és </a:t>
            </a:r>
            <a:r>
              <a:rPr lang="hu-HU" sz="1200" b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élvezetessé</a:t>
            </a:r>
            <a:r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 a memóriafolyamatokat.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Egy olyan </a:t>
            </a:r>
            <a:r>
              <a:rPr lang="hu-HU" sz="12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logikával</a:t>
            </a:r>
            <a:r>
              <a:rPr lang="hu-HU" sz="12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 a háttérben amivel a tanulás </a:t>
            </a:r>
            <a:r>
              <a:rPr lang="hu-HU" sz="12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hatékonyságára</a:t>
            </a:r>
            <a:r>
              <a:rPr lang="hu-HU" sz="12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 idősávos lehetőségeket </a:t>
            </a:r>
            <a:r>
              <a:rPr lang="hu-HU" sz="12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adunk</a:t>
            </a:r>
            <a:r>
              <a:rPr lang="hu-HU" sz="12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 a felhasználónak.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400" b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Térközös ismétlés </a:t>
            </a:r>
            <a:r>
              <a:rPr lang="hu-HU" sz="2000" b="0" i="1" u="none" strike="noStrike">
                <a:solidFill>
                  <a:srgbClr val="000000"/>
                </a:solidFill>
                <a:effectLst/>
                <a:uFillTx/>
                <a:latin typeface="Bahnschrift"/>
              </a:rPr>
              <a:t>(spaced repetition)</a:t>
            </a:r>
            <a:r>
              <a:rPr lang="hu-HU" sz="2000" b="0" i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,</a:t>
            </a:r>
            <a:r>
              <a:rPr lang="hu-HU" sz="1800" b="1" i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 </a:t>
            </a:r>
            <a:r>
              <a:rPr lang="hu-HU" sz="2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majd később idősávos lehetőségeket </a:t>
            </a:r>
            <a:r>
              <a:rPr lang="hu-HU" sz="20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adunk</a:t>
            </a:r>
            <a:r>
              <a:rPr lang="hu-HU" sz="20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Bahnschrift"/>
              </a:rPr>
              <a:t> a felhasználónak.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7B35EA7-995F-4C70-AD1F-9308413836D0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56D84C2-17CD-493C-AD2E-8762C69227B6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8B1457-C243-4DE9-9945-2AAE07D8F618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F1CCD7-F7C5-4FE8-AC27-B7158846DAEB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5E1F32-A505-4D2D-B1F4-2CB15F99F2E6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E61504-0024-438A-BECA-61DCEA3948CC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38BDDE-F3E3-4B2C-A8B7-AA60003F1D3D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F38295-5410-4C72-9671-A6E9CE7932BB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#615FFF – lila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#3a9dff – köztes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#00bafe – világos kék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#15191e –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#191e24 – világosabb „fekete”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1E486B1-A410-478A-A0CD-6924E0077A08}" type="slidenum">
              <a:rPr lang="hu-H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2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3;p18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60120" y="593280"/>
            <a:ext cx="102711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3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9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60120" y="593280"/>
            <a:ext cx="102711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ix columns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9;p2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60120" y="593280"/>
            <a:ext cx="102711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3;p3"/>
          <p:cNvPicPr/>
          <p:nvPr/>
        </p:nvPicPr>
        <p:blipFill>
          <a:blip r:embed="rId2"/>
          <a:srcRect l="0" t="31118" r="31118" b="0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51120" y="4780440"/>
            <a:ext cx="10289520" cy="135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666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666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666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 hasCustomPrompt="1"/>
          </p:nvPr>
        </p:nvSpPr>
        <p:spPr>
          <a:xfrm>
            <a:off x="951120" y="666360"/>
            <a:ext cx="1689120" cy="91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533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533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xx%</a:t>
            </a:r>
            <a:endParaRPr lang="hu-HU" sz="533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s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4;p21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51120" y="719280"/>
            <a:ext cx="3781800" cy="104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666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666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666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  <p:sp>
        <p:nvSpPr>
          <p:cNvPr id="13" name="Google Shape;107;p21"/>
          <p:cNvSpPr/>
          <p:nvPr/>
        </p:nvSpPr>
        <p:spPr>
          <a:xfrm>
            <a:off x="6672240" y="4866120"/>
            <a:ext cx="45676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t">
            <a:noAutofit/>
          </a:bodyPr>
          <a:p>
            <a:pPr algn="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" sz="134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34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34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3"/>
              </a:rPr>
              <a:t>Slidesgo</a:t>
            </a:r>
            <a:r>
              <a:rPr lang="en" sz="134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 by </a:t>
            </a:r>
            <a:r>
              <a:rPr lang="en" sz="134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Flaticon</a:t>
            </a:r>
            <a:r>
              <a:rPr lang="en" sz="134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infographics &amp; images by </a:t>
            </a:r>
            <a:r>
              <a:rPr lang="en" sz="134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5"/>
              </a:rPr>
              <a:t>Freepik</a:t>
            </a:r>
            <a:r>
              <a:rPr lang="en" sz="134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hu-HU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ckground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09;p22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ckground 1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11;p23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7;p4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60120" y="593280"/>
            <a:ext cx="102711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960120" y="1621080"/>
            <a:ext cx="10271160" cy="4554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buClr>
                <a:srgbClr val="FFFFFF"/>
              </a:buClr>
              <a:buFont typeface="Nunito Light"/>
              <a:buChar char="●"/>
              <a:defRPr lang="hu-HU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defRPr>
            </a:lvl1pPr>
          </a:lstStyle>
          <a:p>
            <a:pPr marL="609480" indent="-406440" algn="l">
              <a:lnSpc>
                <a:spcPct val="100000"/>
              </a:lnSpc>
              <a:buClr>
                <a:srgbClr val="FFFFFF"/>
              </a:buClr>
              <a:buFont typeface="Nunito Light"/>
              <a:buChar char="●"/>
            </a:pPr>
            <a:r>
              <a:rPr lang="hu-HU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Mintaszöveg szerkesztése</a:t>
            </a:r>
            <a:endParaRPr lang="hu-HU" sz="1200" b="0" u="none" strike="noStrike">
              <a:solidFill>
                <a:schemeClr val="dk1"/>
              </a:solidFill>
              <a:effectLst/>
              <a:uFillTx/>
              <a:latin typeface="Albert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1;p5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60120" y="4858920"/>
            <a:ext cx="39398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260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8;p6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0120" y="593280"/>
            <a:ext cx="102711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51120" y="719280"/>
            <a:ext cx="10289160" cy="120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666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666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666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text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31;p7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82520" y="719280"/>
            <a:ext cx="572580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260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0" y="1969200"/>
            <a:ext cx="5725800" cy="488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 point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36;p8"/>
          <p:cNvPicPr/>
          <p:nvPr/>
        </p:nvPicPr>
        <p:blipFill>
          <a:blip r:embed="rId2"/>
          <a:srcRect l="0" t="31118" r="31118" b="0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090600" y="1742760"/>
            <a:ext cx="6010200" cy="337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80000"/>
              </a:lnSpc>
              <a:buNone/>
              <a:tabLst>
                <a:tab pos="0" algn="l"/>
              </a:tabLst>
              <a:defRPr lang="hu-HU" sz="80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hu-HU" sz="80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80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nd description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9;p9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847240" y="1585440"/>
            <a:ext cx="6496560" cy="2618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80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80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80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960120" y="5352480"/>
            <a:ext cx="10271160" cy="762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lt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lt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lt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 number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46;p11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35" name="PlaceHolder 1"/>
          <p:cNvSpPr>
            <a:spLocks noGrp="1"/>
          </p:cNvSpPr>
          <p:nvPr>
            <p:ph type="title" hasCustomPrompt="1"/>
          </p:nvPr>
        </p:nvSpPr>
        <p:spPr>
          <a:xfrm>
            <a:off x="951120" y="719280"/>
            <a:ext cx="87674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80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80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xx%</a:t>
            </a:r>
            <a:endParaRPr lang="hu-HU" sz="800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 of contents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51;p13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51120" y="719280"/>
            <a:ext cx="4914360" cy="82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40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0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4000" b="0" u="none" strike="noStrike">
              <a:solidFill>
                <a:schemeClr val="dk1"/>
              </a:solidFill>
              <a:effectLst/>
              <a:uFillTx/>
              <a:latin typeface="Syne Medium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 hasCustomPrompt="1"/>
          </p:nvPr>
        </p:nvSpPr>
        <p:spPr>
          <a:xfrm>
            <a:off x="5992560" y="2601360"/>
            <a:ext cx="1350360" cy="82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rPr>
              <a:t>xx%</a:t>
            </a:r>
            <a:endParaRPr lang="hu-HU" sz="2600" b="0" u="none" strike="noStrike">
              <a:solidFill>
                <a:schemeClr val="dk1"/>
              </a:solidFill>
              <a:effectLst/>
              <a:uFillTx/>
              <a:latin typeface="Syne Medium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title" hasCustomPrompt="1"/>
          </p:nvPr>
        </p:nvSpPr>
        <p:spPr>
          <a:xfrm>
            <a:off x="5992560" y="4408200"/>
            <a:ext cx="1350360" cy="82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rPr>
              <a:t>xx%</a:t>
            </a:r>
            <a:endParaRPr lang="hu-HU" sz="2600" b="0" u="none" strike="noStrike">
              <a:solidFill>
                <a:schemeClr val="dk1"/>
              </a:solidFill>
              <a:effectLst/>
              <a:uFillTx/>
              <a:latin typeface="Syne Medium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title" hasCustomPrompt="1"/>
          </p:nvPr>
        </p:nvSpPr>
        <p:spPr>
          <a:xfrm>
            <a:off x="5992560" y="3504960"/>
            <a:ext cx="1350360" cy="82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rPr>
              <a:t>xx%</a:t>
            </a:r>
            <a:endParaRPr lang="hu-HU" sz="2600" b="0" u="none" strike="noStrike">
              <a:solidFill>
                <a:schemeClr val="dk1"/>
              </a:solidFill>
              <a:effectLst/>
              <a:uFillTx/>
              <a:latin typeface="Syne Medium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title" hasCustomPrompt="1"/>
          </p:nvPr>
        </p:nvSpPr>
        <p:spPr>
          <a:xfrm>
            <a:off x="5992560" y="5311800"/>
            <a:ext cx="1350360" cy="82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0" u="none" strike="noStrike">
                <a:solidFill>
                  <a:schemeClr val="dk1"/>
                </a:solidFill>
                <a:effectLst/>
                <a:uFillTx/>
                <a:latin typeface="Syne Medium"/>
                <a:ea typeface="Syne Medium"/>
              </a:rPr>
              <a:t>xx%</a:t>
            </a:r>
            <a:endParaRPr lang="hu-HU" sz="2600" b="0" u="none" strike="noStrike">
              <a:solidFill>
                <a:schemeClr val="dk1"/>
              </a:solidFill>
              <a:effectLst/>
              <a:uFillTx/>
              <a:latin typeface="Syne Medium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62;p14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082520" y="719280"/>
            <a:ext cx="101577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260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0" y="1969200"/>
            <a:ext cx="5725800" cy="488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 1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7;p15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17000" y="1059480"/>
            <a:ext cx="10157400" cy="93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533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5330" b="0" u="none" strike="noStrike">
                <a:solidFill>
                  <a:schemeClr val="dk1"/>
                </a:solidFill>
                <a:effectLst/>
                <a:uFillTx/>
                <a:latin typeface="Syne SemiBold"/>
                <a:ea typeface="Syne SemiBold"/>
              </a:rPr>
              <a:t>Mintacím szerkesztése</a:t>
            </a:r>
            <a:endParaRPr lang="hu-HU" sz="5330" b="0" u="none" strike="noStrike">
              <a:solidFill>
                <a:schemeClr val="dk1"/>
              </a:solidFill>
              <a:effectLst/>
              <a:uFillTx/>
              <a:latin typeface="Syne SemiBold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246560" y="3197880"/>
            <a:ext cx="6927840" cy="259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buClr>
                <a:srgbClr val="FFFFFF"/>
              </a:buClr>
              <a:buFont typeface="Albert Sans"/>
              <a:buChar char="●"/>
              <a:defRPr lang="hu-HU" sz="16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defRPr>
            </a:lvl1pPr>
          </a:lstStyle>
          <a:p>
            <a:pPr marL="609480" indent="-423360" algn="l">
              <a:lnSpc>
                <a:spcPct val="100000"/>
              </a:lnSpc>
              <a:buClr>
                <a:srgbClr val="FFFFFF"/>
              </a:buClr>
              <a:buFont typeface="Albert Sans"/>
              <a:buChar char="●"/>
            </a:pPr>
            <a:r>
              <a:rPr lang="hu-HU" sz="16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Mintaszöveg szerkesztése</a:t>
            </a:r>
            <a:endParaRPr lang="hu-HU" sz="1600" b="0" u="none" strike="noStrike">
              <a:solidFill>
                <a:schemeClr val="dk1"/>
              </a:solidFill>
              <a:effectLst/>
              <a:uFillTx/>
              <a:latin typeface="Albert Sans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hree columns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71;p16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60120" y="593280"/>
            <a:ext cx="102711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1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80;p17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60120" y="593280"/>
            <a:ext cx="1027116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600" b="1" u="none" strike="noStrik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Mintacím szerkesztése</a:t>
            </a:r>
            <a:endParaRPr lang="hu-HU" sz="2600" b="1" u="none" strike="noStrike">
              <a:solidFill>
                <a:schemeClr val="dk1"/>
              </a:solidFill>
              <a:effectLst/>
              <a:uFillTx/>
              <a:latin typeface="Syne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lapértelmezett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17;p26"/>
          <p:cNvSpPr/>
          <p:nvPr/>
        </p:nvSpPr>
        <p:spPr>
          <a:xfrm>
            <a:off x="0" y="-13680"/>
            <a:ext cx="12191400" cy="15735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endParaRPr lang="hu-HU" sz="1870" b="0" u="none" strike="noStrike">
              <a:solidFill>
                <a:srgbClr val="000000"/>
              </a:solidFill>
              <a:effectLst/>
              <a:uFillTx/>
              <a:latin typeface="Inter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51120" y="719280"/>
            <a:ext cx="1028916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930" b="1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930" b="1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rPr>
              <a:t>Mintacím szerkesztése</a:t>
            </a:r>
            <a:endParaRPr lang="hu-HU" sz="2930" b="1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lapértelmezett 1">
    <p:bg>
      <p:bgPr>
        <a:solidFill>
          <a:schemeClr val="lt1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20;p27"/>
          <p:cNvSpPr/>
          <p:nvPr/>
        </p:nvSpPr>
        <p:spPr>
          <a:xfrm>
            <a:off x="0" y="-13680"/>
            <a:ext cx="12191400" cy="15735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22040" anchor="ctr">
            <a:noAutofit/>
          </a:bodyPr>
          <a:p>
            <a:endParaRPr lang="hu-HU" sz="1870" b="0" u="none" strike="noStrike">
              <a:solidFill>
                <a:srgbClr val="000000"/>
              </a:solidFill>
              <a:effectLst/>
              <a:uFillTx/>
              <a:latin typeface="Inter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71280" y="719280"/>
            <a:ext cx="446292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930" b="1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930" b="1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rPr>
              <a:t>Mintacím szerkesztése</a:t>
            </a:r>
            <a:endParaRPr lang="hu-HU" sz="2930" b="1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6636600" y="719280"/>
            <a:ext cx="461052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2930" b="1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930" b="1" u="none" strike="noStrike">
                <a:solidFill>
                  <a:schemeClr val="lt1"/>
                </a:solidFill>
                <a:effectLst/>
                <a:uFillTx/>
                <a:latin typeface="Inter"/>
                <a:ea typeface="Inter"/>
              </a:rPr>
              <a:t>Mintacím szerkesztése</a:t>
            </a:r>
            <a:endParaRPr lang="hu-HU" sz="2930" b="1" u="none" strike="noStrike">
              <a:solidFill>
                <a:schemeClr val="lt1"/>
              </a:solidFill>
              <a:effectLst/>
              <a:uFillTx/>
              <a:latin typeface="Inter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sak cím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C9FC2F-6A81-473B-A1CD-4AE0B0BC18DC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re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565C69-1259-4648-9F0D-4D4A0D5EF422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Címszöveg formátumának szerkesztése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Vázlatszöveg formátumának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vázlatszint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vázlatszint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vázlatszint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vázlatszint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Hatodik vázlatszint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Hetedik vázlatszint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talomrész képaláírással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32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32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32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32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6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16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1FED4E1-3B8B-44F9-B5BB-CDA465CD34E2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ép képaláírással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32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32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Kép beszúrásához kattintson az ikonra</a:t>
            </a:r>
            <a:endParaRPr lang="hu-HU" sz="32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6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16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EB4CB9-0083-4F21-A597-781F4DA1109B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ímdi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hu-HU" sz="60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60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60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CDC616-14CA-45B5-9F6C-BB6EB3C4E330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Cím és függőleges szöve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D85163-9941-426E-84E1-6C1E77AC79C9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Függőleges cím és szöve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8040D1-621B-4BDB-A356-F88081E31A13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lapértelmezett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51120" y="719280"/>
            <a:ext cx="1028916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2930" b="1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293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2930" b="1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Vázlatszöveg formátumának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vázlatszint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vázlatszint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vázlatszint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vázlatszint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Hatodik vázlatszint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Hetedik vázlatszint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ím és tartalom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4B328B7-7E2B-4020-956D-A2B8E9DE800A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zakaszfejlé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60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60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60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ptos"/>
              </a:rPr>
              <a:t>Mintaszöveg szerkesztése</a:t>
            </a:r>
            <a:endParaRPr lang="hu-HU" sz="2400" b="0" u="none" strike="noStrike">
              <a:solidFill>
                <a:schemeClr val="lt1">
                  <a:shade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C7AA07-0F7A-47A2-A5CA-F4A1B248EC99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tartalomrész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39517B-8910-458B-9AF6-9B0F4094E567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Összehasonlítá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Mintacím szerkesztése</a:t>
            </a:r>
            <a:endParaRPr lang="hu-HU" sz="44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1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1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8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A9FD5AE-507D-4DF9-87DC-8FE64CBE48AA}" type="slidenum">
              <a:rPr lang="hu-HU" sz="1200" b="0" u="none" strike="noStrike">
                <a:solidFill>
                  <a:schemeClr val="lt1">
                    <a:shade val="82000"/>
                  </a:schemeClr>
                </a:solidFill>
                <a:effectLst/>
                <a:uFillTx/>
                <a:latin typeface="Arial"/>
                <a:ea typeface="Arial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72" r:id="rId2"/>
    <p:sldLayoutId id="2147483673" r:id="rId3"/>
    <p:sldLayoutId id="2147483674" r:id="rId4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3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3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27.xml"/><Relationship Id="rId6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15FFF"/>
            </a:gs>
            <a:gs pos="33000">
              <a:srgbClr val="00BAFE"/>
            </a:gs>
            <a:gs pos="69000">
              <a:srgbClr val="3A9DFF"/>
            </a:gs>
            <a:gs pos="90000">
              <a:srgbClr val="15191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Kép 8"/>
          <p:cNvPicPr/>
          <p:nvPr/>
        </p:nvPicPr>
        <p:blipFill>
          <a:blip r:embed="rId1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15FFF"/>
            </a:gs>
            <a:gs pos="33000">
              <a:srgbClr val="00BAFE"/>
            </a:gs>
            <a:gs pos="69000">
              <a:srgbClr val="3A9DFF"/>
            </a:gs>
            <a:gs pos="90000">
              <a:srgbClr val="15191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ubtitle 2"/>
          <p:cNvSpPr/>
          <p:nvPr/>
        </p:nvSpPr>
        <p:spPr>
          <a:xfrm>
            <a:off x="6619680" y="2285640"/>
            <a:ext cx="5712840" cy="254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Digitális Tanulókártya Alkalmazás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Vizsgarész: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Szoftverfejlesztés és -tesztelés vizsgaremek bemutatása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: Diagonal Corners Snipped 3"/>
          <p:cNvSpPr/>
          <p:nvPr/>
        </p:nvSpPr>
        <p:spPr>
          <a:xfrm>
            <a:off x="0" y="0"/>
            <a:ext cx="4089600" cy="29491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81F9FF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hu-HU" sz="1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7" name="Rectangle: Diagonal Corners Snipped 4"/>
          <p:cNvSpPr/>
          <p:nvPr/>
        </p:nvSpPr>
        <p:spPr>
          <a:xfrm>
            <a:off x="152280" y="152280"/>
            <a:ext cx="4089600" cy="29491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00BAFE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hu-HU" sz="1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8" name="Rectangle: Diagonal Corners Snipped 5"/>
          <p:cNvSpPr/>
          <p:nvPr/>
        </p:nvSpPr>
        <p:spPr>
          <a:xfrm>
            <a:off x="304920" y="304920"/>
            <a:ext cx="4089600" cy="29491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3A9DFF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hu-HU" sz="1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9" name="Rectangle: Diagonal Corners Snipped 6"/>
          <p:cNvSpPr/>
          <p:nvPr/>
        </p:nvSpPr>
        <p:spPr>
          <a:xfrm>
            <a:off x="457200" y="457200"/>
            <a:ext cx="4089600" cy="29491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615FFF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hu-HU" sz="1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0" name="Rectangle: Diagonal Corners Snipped 7"/>
          <p:cNvSpPr/>
          <p:nvPr/>
        </p:nvSpPr>
        <p:spPr>
          <a:xfrm>
            <a:off x="609480" y="609480"/>
            <a:ext cx="4089600" cy="29491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191E24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hu-HU" sz="14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1" name="Title 1"/>
          <p:cNvSpPr/>
          <p:nvPr/>
        </p:nvSpPr>
        <p:spPr>
          <a:xfrm>
            <a:off x="752040" y="1594800"/>
            <a:ext cx="3998520" cy="9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hu-HU" sz="5400" b="1" u="none" strike="noStrike">
                <a:solidFill>
                  <a:srgbClr val="3A9DFF"/>
                </a:solidFill>
                <a:effectLst/>
                <a:uFillTx/>
                <a:latin typeface="Bahnschrift"/>
                <a:ea typeface="Arial"/>
              </a:rPr>
              <a:t>Smart</a:t>
            </a:r>
            <a:r>
              <a:rPr lang="hu-HU" sz="54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Cards</a:t>
            </a:r>
            <a:endParaRPr lang="hu-HU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ubtitle 2"/>
          <p:cNvSpPr/>
          <p:nvPr/>
        </p:nvSpPr>
        <p:spPr>
          <a:xfrm>
            <a:off x="0" y="5582880"/>
            <a:ext cx="3090960" cy="12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hu-HU" sz="2800" b="1" u="sng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Készítették:</a:t>
            </a:r>
            <a:br>
              <a:rPr sz="2800"/>
            </a:b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Laczkó István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Brückner Gábor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ubtitle 2"/>
          <p:cNvSpPr/>
          <p:nvPr/>
        </p:nvSpPr>
        <p:spPr>
          <a:xfrm>
            <a:off x="5041440" y="5860440"/>
            <a:ext cx="5712840" cy="9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hu-HU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zövegdoboz 16"/>
          <p:cNvSpPr/>
          <p:nvPr/>
        </p:nvSpPr>
        <p:spPr>
          <a:xfrm>
            <a:off x="9885600" y="43200"/>
            <a:ext cx="2305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2026. Tavasz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Kép 17"/>
          <p:cNvPicPr/>
          <p:nvPr/>
        </p:nvPicPr>
        <p:blipFill>
          <a:blip r:embed="rId1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10" presetClass="entr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50"/>
                            </p:stCondLst>
                            <p:childTnLst>
                              <p:par>
                                <p:cTn id="21" presetID="10" presetClass="entr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2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fill="hold" nodeType="withEffect">
                                  <p:stCondLst>
                                    <p:cond delay="1250"/>
                                  </p:stCondLst>
                                  <p:endCondLst>
                                    <p:cond delay="0" evt="begin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"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70000">
              <a:srgbClr val="15191E"/>
            </a:gs>
            <a:gs pos="100000">
              <a:srgbClr val="0062C2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Kép 21"/>
          <p:cNvPicPr/>
          <p:nvPr/>
        </p:nvPicPr>
        <p:blipFill>
          <a:blip r:embed="rId1"/>
          <a:stretch/>
        </p:blipFill>
        <p:spPr>
          <a:xfrm>
            <a:off x="3753720" y="1086840"/>
            <a:ext cx="4683600" cy="46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Kép 22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15FFF"/>
            </a:gs>
            <a:gs pos="64000">
              <a:srgbClr val="00BAFE"/>
            </a:gs>
            <a:gs pos="72000">
              <a:srgbClr val="3A9DFF"/>
            </a:gs>
            <a:gs pos="100000">
              <a:srgbClr val="15191E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zövegdoboz 4"/>
          <p:cNvSpPr/>
          <p:nvPr/>
        </p:nvSpPr>
        <p:spPr>
          <a:xfrm>
            <a:off x="1603080" y="0"/>
            <a:ext cx="89856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A szoftver célja és a problémafelvetés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zövegdoboz 6"/>
          <p:cNvSpPr/>
          <p:nvPr/>
        </p:nvSpPr>
        <p:spPr>
          <a:xfrm>
            <a:off x="2526840" y="1843920"/>
            <a:ext cx="7335000" cy="20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hu-HU" sz="3200" b="1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A probléma: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4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- A hagyományos </a:t>
            </a:r>
            <a:r>
              <a:rPr lang="hu-HU" sz="2400" b="1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papíralapú</a:t>
            </a:r>
            <a:r>
              <a:rPr lang="hu-HU" sz="24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 tanulókártyák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4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- A meglévő tanulókártyás platformok </a:t>
            </a:r>
            <a:r>
              <a:rPr lang="hu-HU" sz="2400" b="1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statikussága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Kép 8"/>
          <p:cNvPicPr/>
          <p:nvPr/>
        </p:nvPicPr>
        <p:blipFill>
          <a:blip r:embed="rId1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46" dur="indefinite" restart="never" nodeType="tmRoot">
          <p:childTnLst>
            <p:seq>
              <p:cTn id="47" dur="indefinite" nodeType="mainSeq"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1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15FFF"/>
            </a:gs>
            <a:gs pos="59000">
              <a:srgbClr val="00BAFE"/>
            </a:gs>
            <a:gs pos="69000">
              <a:srgbClr val="3A9DFF"/>
            </a:gs>
            <a:gs pos="100000">
              <a:srgbClr val="15191E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zövegdoboz 7"/>
          <p:cNvSpPr/>
          <p:nvPr/>
        </p:nvSpPr>
        <p:spPr>
          <a:xfrm>
            <a:off x="2804400" y="1105200"/>
            <a:ext cx="6582240" cy="35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hu-HU" sz="3200" b="1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A megoldás: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Egy </a:t>
            </a:r>
            <a:r>
              <a:rPr lang="hu-HU" sz="24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digitális</a:t>
            </a: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, </a:t>
            </a:r>
            <a:r>
              <a:rPr lang="hu-HU" sz="24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reszponzív</a:t>
            </a: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 platform, amely a </a:t>
            </a:r>
            <a:r>
              <a:rPr lang="hu-HU" sz="24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gamifikáció</a:t>
            </a: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 segítségével teszi </a:t>
            </a:r>
            <a:r>
              <a:rPr lang="hu-HU" sz="24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hatékonnyá</a:t>
            </a: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 és </a:t>
            </a:r>
            <a:r>
              <a:rPr lang="hu-HU" sz="24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élvezetessé</a:t>
            </a: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 a memóriafolyamatokat.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4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Egy olyan egyedi </a:t>
            </a:r>
            <a:r>
              <a:rPr lang="hu-HU" sz="2400" b="1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logikával</a:t>
            </a:r>
            <a:r>
              <a:rPr lang="hu-HU" sz="24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 rendelkező alkalmazás amelynek a hátterében a tanulás hatékonyságára optimalizáljuk a rendezést. 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zövegdoboz 1"/>
          <p:cNvSpPr/>
          <p:nvPr/>
        </p:nvSpPr>
        <p:spPr>
          <a:xfrm>
            <a:off x="1603080" y="0"/>
            <a:ext cx="89856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A szoftver célja és a problémafelvetés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Kép 2"/>
          <p:cNvPicPr/>
          <p:nvPr/>
        </p:nvPicPr>
        <p:blipFill>
          <a:blip r:embed="rId1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3" dur="2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" dur="1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615FFF"/>
            </a:gs>
            <a:gs pos="20000">
              <a:srgbClr val="00BAFE"/>
            </a:gs>
            <a:gs pos="35000">
              <a:srgbClr val="3A9DFF"/>
            </a:gs>
            <a:gs pos="85000">
              <a:srgbClr val="15191E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zövegdoboz 7"/>
          <p:cNvSpPr/>
          <p:nvPr/>
        </p:nvSpPr>
        <p:spPr>
          <a:xfrm>
            <a:off x="466200" y="1442520"/>
            <a:ext cx="11259360" cy="52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Architekturális minta: 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RESTful kliens-szerver modell.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Kommunikáció:</a:t>
            </a: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 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JSON formátum, szabványos API 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végpontok (HTTP protokollon keresztül).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Kliens oldal (Frontend): 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Angular keretrendszer, TypeScript, 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HTML+Tailwind CSS, DaisyUI.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Szerver oldal (Backend): 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C# .NET (ASP.NET Core Web API).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Adatbázis: 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Relációs adatbázis sémával és ORM 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(Entity Framework) kapcsolattal.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zövegdoboz 1"/>
          <p:cNvSpPr/>
          <p:nvPr/>
        </p:nvSpPr>
        <p:spPr>
          <a:xfrm>
            <a:off x="1603080" y="0"/>
            <a:ext cx="89856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Műszaki megva</a:t>
            </a:r>
            <a:r>
              <a:rPr lang="hu-HU" sz="40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lósítás</a:t>
            </a:r>
            <a:r>
              <a:rPr lang="hu-HU" sz="40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 </a:t>
            </a:r>
            <a:r>
              <a:rPr lang="hu-HU" sz="40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és Architektúra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Kép 8"/>
          <p:cNvPicPr/>
          <p:nvPr/>
        </p:nvPicPr>
        <p:blipFill>
          <a:blip r:embed="rId1"/>
          <a:stretch/>
        </p:blipFill>
        <p:spPr>
          <a:xfrm>
            <a:off x="261360" y="15228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Kép 9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" dur="1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286920" y="294840"/>
            <a:ext cx="19764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293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Pihenő dia</a:t>
            </a:r>
            <a:endParaRPr lang="hu-HU" sz="2930" b="1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pic>
        <p:nvPicPr>
          <p:cNvPr id="149" name="Kép 7"/>
          <p:cNvPicPr/>
          <p:nvPr/>
        </p:nvPicPr>
        <p:blipFill>
          <a:blip r:embed="rId1"/>
          <a:stretch/>
        </p:blipFill>
        <p:spPr>
          <a:xfrm>
            <a:off x="7827120" y="2896920"/>
            <a:ext cx="992160" cy="99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Kép 9"/>
          <p:cNvPicPr/>
          <p:nvPr/>
        </p:nvPicPr>
        <p:blipFill>
          <a:blip r:embed="rId2"/>
          <a:stretch/>
        </p:blipFill>
        <p:spPr>
          <a:xfrm>
            <a:off x="2177280" y="2948760"/>
            <a:ext cx="870480" cy="87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Kép 11"/>
          <p:cNvPicPr/>
          <p:nvPr/>
        </p:nvPicPr>
        <p:blipFill>
          <a:blip r:embed="rId3"/>
          <a:stretch/>
        </p:blipFill>
        <p:spPr>
          <a:xfrm>
            <a:off x="1273320" y="2932560"/>
            <a:ext cx="903240" cy="90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Kép 15"/>
          <p:cNvPicPr/>
          <p:nvPr/>
        </p:nvPicPr>
        <p:blipFill>
          <a:blip r:embed="rId4"/>
          <a:stretch/>
        </p:blipFill>
        <p:spPr>
          <a:xfrm>
            <a:off x="4572000" y="3068640"/>
            <a:ext cx="744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Kép 17"/>
          <p:cNvPicPr/>
          <p:nvPr/>
        </p:nvPicPr>
        <p:blipFill>
          <a:blip r:embed="rId5"/>
          <a:stretch/>
        </p:blipFill>
        <p:spPr>
          <a:xfrm>
            <a:off x="6726960" y="2896920"/>
            <a:ext cx="992160" cy="99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Kép 19"/>
          <p:cNvPicPr/>
          <p:nvPr/>
        </p:nvPicPr>
        <p:blipFill>
          <a:blip r:embed="rId6"/>
          <a:stretch/>
        </p:blipFill>
        <p:spPr>
          <a:xfrm>
            <a:off x="3585600" y="2954160"/>
            <a:ext cx="992160" cy="99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Kép 23"/>
          <p:cNvPicPr/>
          <p:nvPr/>
        </p:nvPicPr>
        <p:blipFill>
          <a:blip r:embed="rId7"/>
          <a:stretch/>
        </p:blipFill>
        <p:spPr>
          <a:xfrm>
            <a:off x="9906480" y="2932560"/>
            <a:ext cx="992160" cy="9921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" dur="1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5000">
              <a:srgbClr val="15191E"/>
            </a:gs>
            <a:gs pos="68000">
              <a:srgbClr val="615FFF"/>
            </a:gs>
            <a:gs pos="85000">
              <a:srgbClr val="3A9DFF"/>
            </a:gs>
            <a:gs pos="100000">
              <a:srgbClr val="00BAFE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zövegdoboz 7"/>
          <p:cNvSpPr/>
          <p:nvPr/>
        </p:nvSpPr>
        <p:spPr>
          <a:xfrm>
            <a:off x="477000" y="1442520"/>
            <a:ext cx="11104920" cy="52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Adatkezelés: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 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Felhasználók, paklik (decks), kártyák és 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részletes statisztikák perzisztens 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tárolása.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Biztonság: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 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Hitelesítés és jogosultságkezelés 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biztosítása az API végpontokon.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Backend szolgáltatások: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 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Különálló Controller és Service rétegek 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(pl. StatsService.cs az analitikához).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zövegdoboz 1"/>
          <p:cNvSpPr/>
          <p:nvPr/>
        </p:nvSpPr>
        <p:spPr>
          <a:xfrm>
            <a:off x="2484720" y="152280"/>
            <a:ext cx="75078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Bahnschrift"/>
                <a:ea typeface="Arial"/>
              </a:rPr>
              <a:t>Az Adatbázis </a:t>
            </a:r>
            <a:r>
              <a:rPr lang="hu-HU" sz="40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és a Szerver oldal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Kép 8"/>
          <p:cNvPicPr/>
          <p:nvPr/>
        </p:nvPicPr>
        <p:blipFill>
          <a:blip r:embed="rId1"/>
          <a:stretch/>
        </p:blipFill>
        <p:spPr>
          <a:xfrm>
            <a:off x="10942200" y="15228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Kép 3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2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" dur="12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5000">
              <a:srgbClr val="15191E"/>
            </a:gs>
            <a:gs pos="68000">
              <a:srgbClr val="615FFF"/>
            </a:gs>
            <a:gs pos="85000">
              <a:srgbClr val="3A9DFF"/>
            </a:gs>
            <a:gs pos="100000">
              <a:srgbClr val="00BAF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zövegdoboz 7"/>
          <p:cNvSpPr/>
          <p:nvPr/>
        </p:nvSpPr>
        <p:spPr>
          <a:xfrm>
            <a:off x="477000" y="1442520"/>
            <a:ext cx="11259360" cy="52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Webes UI/UX: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Reszponzív dizájn modern elemekkel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mely PC-n és mobilon is egyenértékű,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app-szerű élményt nyújt.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Többnyelvűség (i18n):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Dinamikus nyelvváltás magyar és angol 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nyelv között </a:t>
            </a:r>
            <a:r>
              <a:rPr lang="hu-HU" sz="24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(translation.ts).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Kliens oldali logika:</a:t>
            </a: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Fejlett adatkezelés és állapottartás RxJs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és Angular Services segítségével.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zövegdoboz 1"/>
          <p:cNvSpPr/>
          <p:nvPr/>
        </p:nvSpPr>
        <p:spPr>
          <a:xfrm>
            <a:off x="1856160" y="152280"/>
            <a:ext cx="847908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1" u="none" strike="noStrike">
                <a:solidFill>
                  <a:srgbClr val="3A9DFF"/>
                </a:solidFill>
                <a:effectLst/>
                <a:uFillTx/>
                <a:latin typeface="Bahnschrift"/>
                <a:ea typeface="Arial"/>
              </a:rPr>
              <a:t>Kliens oldal és Felhasználói Élmény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Kép 8"/>
          <p:cNvPicPr/>
          <p:nvPr/>
        </p:nvPicPr>
        <p:blipFill>
          <a:blip r:embed="rId1"/>
          <a:stretch/>
        </p:blipFill>
        <p:spPr>
          <a:xfrm>
            <a:off x="10942200" y="15228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Kép 3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"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" dur="12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5000">
              <a:srgbClr val="15191E"/>
            </a:gs>
            <a:gs pos="68000">
              <a:srgbClr val="615FFF"/>
            </a:gs>
            <a:gs pos="85000">
              <a:srgbClr val="3A9DFF"/>
            </a:gs>
            <a:gs pos="100000">
              <a:srgbClr val="00BAFE"/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zövegdoboz 7"/>
          <p:cNvSpPr/>
          <p:nvPr/>
        </p:nvSpPr>
        <p:spPr>
          <a:xfrm>
            <a:off x="477000" y="1442520"/>
            <a:ext cx="11259360" cy="529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Clean Code megközelítés: 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Beszédes angol változó/függvénynevek, kis 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és fókuszált metódusok.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Infrastruktúra: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Komponens-alapú architektúra (pl. Home 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és Decks izoláltsága).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Kiemelt kódpéldák bemutatásra: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- Hibakezelés: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 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Az error.interceptor.ts bemutatása (hogyan 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csípjük el és jelezzük a hálózati/szerver 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hibákat a felhasználónak Toast 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üzenetekkel).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- Biztonság: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 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Az auth.guard.ts működése kliens oldalon.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zövegdoboz 1"/>
          <p:cNvSpPr/>
          <p:nvPr/>
        </p:nvSpPr>
        <p:spPr>
          <a:xfrm>
            <a:off x="3420720" y="272160"/>
            <a:ext cx="537156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1" u="none" strike="noStrike">
                <a:solidFill>
                  <a:schemeClr val="dk1"/>
                </a:solidFill>
                <a:effectLst/>
                <a:uFillTx/>
                <a:latin typeface="Bahnschrift"/>
                <a:ea typeface="Arial"/>
              </a:rPr>
              <a:t>Forráskód bemutatása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Kép 8"/>
          <p:cNvPicPr/>
          <p:nvPr/>
        </p:nvPicPr>
        <p:blipFill>
          <a:blip r:embed="rId1"/>
          <a:stretch/>
        </p:blipFill>
        <p:spPr>
          <a:xfrm>
            <a:off x="150480" y="575856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Kép 3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108" dur="indefinite" restart="never" nodeType="tmRoot">
          <p:childTnLst>
            <p:seq>
              <p:cTn id="109" dur="indefinite" nodeType="mainSeq"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8" dur="1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5000">
              <a:srgbClr val="15191E"/>
            </a:gs>
            <a:gs pos="68000">
              <a:srgbClr val="615FFF"/>
            </a:gs>
            <a:gs pos="85000">
              <a:srgbClr val="3A9DFF"/>
            </a:gs>
            <a:gs pos="100000">
              <a:srgbClr val="00BAF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zövegdoboz 7"/>
          <p:cNvSpPr/>
          <p:nvPr/>
        </p:nvSpPr>
        <p:spPr>
          <a:xfrm>
            <a:off x="477000" y="1442520"/>
            <a:ext cx="11259360" cy="47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2600" b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Használt eszközök: 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Verziókövetés: GitLab, 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Feladatkövetés: Trello féle kanbanboard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Munkamegosztás: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1" u="sng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Brückner Gábor</a:t>
            </a:r>
            <a:r>
              <a:rPr lang="hu-HU" sz="26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: </a:t>
            </a:r>
            <a:r>
              <a:rPr lang="hu-HU" sz="24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Frontend fejlesztése, UI/UX kialakítás, komponensek </a:t>
            </a:r>
            <a:r>
              <a:rPr lang="hu-HU" sz="20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(Dashboard, Decks...) </a:t>
            </a:r>
            <a:r>
              <a:rPr lang="hu-HU" sz="24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implementálása, kliens oldali kommunikáció az API-val, a hivatalos dokumentáció és prezentáció összeállítása.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1" u="sng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Laczkó István</a:t>
            </a:r>
            <a:r>
              <a:rPr lang="hu-HU" sz="26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:</a:t>
            </a:r>
            <a:r>
              <a:rPr lang="hu-HU" sz="2600" b="0" i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 </a:t>
            </a:r>
            <a:r>
              <a:rPr lang="hu-HU" sz="24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Backend fejlesztése, rendszerarchitektúra és tervezés, adatbázis tervezés, tesztelés, Adatkezelés - CRUD operációk és logika a 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4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Backenden és a Frontenden is, hitelesítés és biztonság.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zövegdoboz 1"/>
          <p:cNvSpPr/>
          <p:nvPr/>
        </p:nvSpPr>
        <p:spPr>
          <a:xfrm>
            <a:off x="2015280" y="121680"/>
            <a:ext cx="959904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Projektszervezés és Munkamegosztás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Kép 8"/>
          <p:cNvPicPr/>
          <p:nvPr/>
        </p:nvPicPr>
        <p:blipFill>
          <a:blip r:embed="rId1"/>
          <a:stretch/>
        </p:blipFill>
        <p:spPr>
          <a:xfrm>
            <a:off x="335520" y="12168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Kép 3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5"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9" dur="12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286920" y="294840"/>
            <a:ext cx="19764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293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Pihenő dia</a:t>
            </a:r>
            <a:endParaRPr lang="hu-HU" sz="2930" b="1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pic>
        <p:nvPicPr>
          <p:cNvPr id="173" name="Kép 7"/>
          <p:cNvPicPr/>
          <p:nvPr/>
        </p:nvPicPr>
        <p:blipFill>
          <a:blip r:embed="rId1"/>
          <a:stretch/>
        </p:blipFill>
        <p:spPr>
          <a:xfrm>
            <a:off x="7827120" y="2896920"/>
            <a:ext cx="992160" cy="99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Kép 9"/>
          <p:cNvPicPr/>
          <p:nvPr/>
        </p:nvPicPr>
        <p:blipFill>
          <a:blip r:embed="rId2"/>
          <a:stretch/>
        </p:blipFill>
        <p:spPr>
          <a:xfrm>
            <a:off x="2177280" y="2948760"/>
            <a:ext cx="870480" cy="87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Kép 11"/>
          <p:cNvPicPr/>
          <p:nvPr/>
        </p:nvPicPr>
        <p:blipFill>
          <a:blip r:embed="rId3"/>
          <a:stretch/>
        </p:blipFill>
        <p:spPr>
          <a:xfrm>
            <a:off x="1273320" y="2932560"/>
            <a:ext cx="903240" cy="90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Kép 15"/>
          <p:cNvPicPr/>
          <p:nvPr/>
        </p:nvPicPr>
        <p:blipFill>
          <a:blip r:embed="rId4"/>
          <a:stretch/>
        </p:blipFill>
        <p:spPr>
          <a:xfrm>
            <a:off x="4572000" y="3068640"/>
            <a:ext cx="744840" cy="74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Kép 17"/>
          <p:cNvPicPr/>
          <p:nvPr/>
        </p:nvPicPr>
        <p:blipFill>
          <a:blip r:embed="rId5"/>
          <a:stretch/>
        </p:blipFill>
        <p:spPr>
          <a:xfrm>
            <a:off x="6726960" y="2896920"/>
            <a:ext cx="992160" cy="99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Kép 19"/>
          <p:cNvPicPr/>
          <p:nvPr/>
        </p:nvPicPr>
        <p:blipFill>
          <a:blip r:embed="rId6"/>
          <a:stretch/>
        </p:blipFill>
        <p:spPr>
          <a:xfrm>
            <a:off x="3585600" y="2954160"/>
            <a:ext cx="992160" cy="99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Kép 23"/>
          <p:cNvPicPr/>
          <p:nvPr/>
        </p:nvPicPr>
        <p:blipFill>
          <a:blip r:embed="rId7"/>
          <a:stretch/>
        </p:blipFill>
        <p:spPr>
          <a:xfrm>
            <a:off x="9906480" y="2932560"/>
            <a:ext cx="992160" cy="9921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130" dur="indefinite" restart="never" nodeType="tmRoot">
          <p:childTnLst>
            <p:seq>
              <p:cTn id="131" dur="indefinite" nodeType="mainSeq"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6" dur="1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5000">
              <a:srgbClr val="15191E"/>
            </a:gs>
            <a:gs pos="68000">
              <a:srgbClr val="615FFF"/>
            </a:gs>
            <a:gs pos="85000">
              <a:srgbClr val="3A9DFF"/>
            </a:gs>
            <a:gs pos="100000">
              <a:srgbClr val="00BAF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zövegdoboz 7"/>
          <p:cNvSpPr/>
          <p:nvPr/>
        </p:nvSpPr>
        <p:spPr>
          <a:xfrm>
            <a:off x="477000" y="1442520"/>
            <a:ext cx="11259360" cy="449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The Problem:</a:t>
            </a:r>
            <a:r>
              <a:rPr lang="hu-HU" sz="2600" b="1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1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Traditional learning methods are usually boring </a:t>
            </a:r>
            <a:r>
              <a:rPr lang="hu-HU" sz="2600" b="0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FF0000"/>
                </a:solidFill>
                <a:effectLst/>
                <a:uFillTx/>
                <a:latin typeface="Bahnschrift"/>
                <a:ea typeface="Arial"/>
              </a:rPr>
              <a:t>and hard to track.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Our Goal: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We created </a:t>
            </a:r>
            <a:r>
              <a:rPr lang="en-US" sz="2600" b="0" i="1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SmartCards</a:t>
            </a:r>
            <a:r>
              <a:rPr lang="en-US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, a web-based, fully 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responsive application tailored for modern 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learning. It uses flashcards combined with 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statistics to make</a:t>
            </a:r>
            <a:r>
              <a:rPr lang="hu-HU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 </a:t>
            </a:r>
            <a:r>
              <a:rPr lang="en-US" sz="2600" b="0" u="none" strike="noStrike">
                <a:solidFill>
                  <a:srgbClr val="0CF600"/>
                </a:solidFill>
                <a:effectLst/>
                <a:uFillTx/>
                <a:latin typeface="Bahnschrift"/>
                <a:ea typeface="Arial"/>
              </a:rPr>
              <a:t>memorization highly effective.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Target Audience: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It's designed for students and self-learners who 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want an interactive, anywhere-accessible 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FFC000"/>
                </a:solidFill>
                <a:effectLst/>
                <a:uFillTx/>
                <a:latin typeface="Bahnschrift"/>
                <a:ea typeface="Arial"/>
              </a:rPr>
              <a:t>learning tool.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zövegdoboz 1"/>
          <p:cNvSpPr/>
          <p:nvPr/>
        </p:nvSpPr>
        <p:spPr>
          <a:xfrm>
            <a:off x="1607760" y="121680"/>
            <a:ext cx="995976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English Summary </a:t>
            </a:r>
            <a:r>
              <a:rPr lang="hu-HU" sz="4000" b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– Project Purpose </a:t>
            </a:r>
            <a:r>
              <a:rPr lang="hu-HU" sz="2800" b="1" i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part 1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Kép 8"/>
          <p:cNvPicPr/>
          <p:nvPr/>
        </p:nvPicPr>
        <p:blipFill>
          <a:blip r:embed="rId1"/>
          <a:stretch/>
        </p:blipFill>
        <p:spPr>
          <a:xfrm>
            <a:off x="11094480" y="12168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Kép 3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3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7" dur="1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35000">
              <a:srgbClr val="15191E"/>
            </a:gs>
            <a:gs pos="68000">
              <a:srgbClr val="615FFF"/>
            </a:gs>
            <a:gs pos="85000">
              <a:srgbClr val="3A9DFF"/>
            </a:gs>
            <a:gs pos="100000">
              <a:srgbClr val="00BAFE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zövegdoboz 7"/>
          <p:cNvSpPr/>
          <p:nvPr/>
        </p:nvSpPr>
        <p:spPr>
          <a:xfrm>
            <a:off x="477000" y="1442520"/>
            <a:ext cx="11259360" cy="529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sng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Client &amp; UI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: </a:t>
            </a:r>
            <a:r>
              <a:rPr lang="hu-HU" sz="26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Built with Angular, our user interface dynamically 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adapts to both desktop and mobile screens. It 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en-US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features a modern, glassmorphic design.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1" u="sng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Key Functionalities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: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- </a:t>
            </a:r>
            <a:r>
              <a:rPr lang="en-US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A personalized </a:t>
            </a:r>
            <a:r>
              <a:rPr lang="en-US" sz="2600" b="1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Dashboard</a:t>
            </a:r>
            <a:r>
              <a:rPr lang="en-US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 tracking your daily streak and 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   </a:t>
            </a:r>
            <a:r>
              <a:rPr lang="en-US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total study time.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- </a:t>
            </a:r>
            <a:r>
              <a:rPr lang="en-US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Easy management of custom flashcard </a:t>
            </a:r>
            <a:r>
              <a:rPr lang="en-US" sz="2600" b="1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Decks</a:t>
            </a:r>
            <a:r>
              <a:rPr lang="en-US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	</a:t>
            </a:r>
            <a:r>
              <a:rPr lang="hu-HU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- </a:t>
            </a:r>
            <a:r>
              <a:rPr lang="en-US" sz="2600" b="0" u="none" strike="noStrike">
                <a:solidFill>
                  <a:srgbClr val="00BAFE"/>
                </a:solidFill>
                <a:effectLst/>
                <a:uFillTx/>
                <a:latin typeface="Bahnschrift"/>
                <a:ea typeface="Arial"/>
              </a:rPr>
              <a:t>Full bilingual support (English &amp; Hungarian).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1" u="sng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Backend</a:t>
            </a:r>
            <a:r>
              <a:rPr lang="en-US" sz="2600" b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: </a:t>
            </a:r>
            <a:r>
              <a:rPr lang="en-US" sz="2600" b="0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Powered by a robust C# .NET REST API, securely handling authentication and saving your continuous progress.</a:t>
            </a:r>
            <a:endParaRPr lang="hu-H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zövegdoboz 1"/>
          <p:cNvSpPr/>
          <p:nvPr/>
        </p:nvSpPr>
        <p:spPr>
          <a:xfrm>
            <a:off x="1654560" y="121680"/>
            <a:ext cx="995976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English Summary </a:t>
            </a:r>
            <a:r>
              <a:rPr lang="hu-HU" sz="4000" b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– App Operation </a:t>
            </a:r>
            <a:r>
              <a:rPr lang="hu-HU" sz="2800" b="1" i="1" u="none" strike="noStrike">
                <a:solidFill>
                  <a:srgbClr val="81F9FF"/>
                </a:solidFill>
                <a:effectLst/>
                <a:uFillTx/>
                <a:latin typeface="Bahnschrift"/>
                <a:ea typeface="Arial"/>
              </a:rPr>
              <a:t>part 2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Kép 8"/>
          <p:cNvPicPr/>
          <p:nvPr/>
        </p:nvPicPr>
        <p:blipFill>
          <a:blip r:embed="rId1"/>
          <a:stretch/>
        </p:blipFill>
        <p:spPr>
          <a:xfrm>
            <a:off x="10789920" y="546264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Kép 3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148" dur="indefinite" restart="never" nodeType="tmRoot">
          <p:childTnLst>
            <p:seq>
              <p:cTn id="149" dur="indefinite" nodeType="mainSeq"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4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"/>
                            </p:stCondLst>
                            <p:childTnLst>
                              <p:par>
                                <p:cTn id="15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8" dur="1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3A9DFF"/>
            </a:gs>
            <a:gs pos="51000">
              <a:srgbClr val="00BAFE"/>
            </a:gs>
            <a:gs pos="75000">
              <a:srgbClr val="615FFF"/>
            </a:gs>
            <a:gs pos="78000">
              <a:srgbClr val="15191E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zövegdoboz 7"/>
          <p:cNvSpPr/>
          <p:nvPr/>
        </p:nvSpPr>
        <p:spPr>
          <a:xfrm>
            <a:off x="3544920" y="1862640"/>
            <a:ext cx="5311800" cy="39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Köszönjük a figyelmet!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Válaszolunk a felmerülő kérdésekre.</a:t>
            </a:r>
            <a:br>
              <a:rPr sz="2800"/>
            </a:br>
            <a:br>
              <a:rPr sz="2800"/>
            </a:br>
            <a:r>
              <a:rPr lang="hu-HU" sz="2800" b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Jöhet a demostráció.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hu-HU" sz="2000" b="1" i="1" u="heavy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Demo GitHub link:</a:t>
            </a:r>
            <a:r>
              <a:rPr lang="hu-HU" sz="2000" b="0" i="1" u="none" strike="noStrike">
                <a:solidFill>
                  <a:srgbClr val="000000"/>
                </a:solidFill>
                <a:effectLst/>
                <a:uFillTx/>
                <a:latin typeface="Bahnschrift"/>
                <a:ea typeface="Arial"/>
              </a:rPr>
              <a:t> https://github.com/Stevenking555/SmartCards/tree/main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zövegdoboz 1"/>
          <p:cNvSpPr/>
          <p:nvPr/>
        </p:nvSpPr>
        <p:spPr>
          <a:xfrm>
            <a:off x="3898800" y="146880"/>
            <a:ext cx="460404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hu-HU" sz="4000" b="1" u="none" strike="noStrike">
                <a:solidFill>
                  <a:srgbClr val="615FFF"/>
                </a:solidFill>
                <a:effectLst/>
                <a:uFillTx/>
                <a:latin typeface="Bahnschrift"/>
                <a:ea typeface="Arial"/>
              </a:rPr>
              <a:t>Zárás és Kérdések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" name="Kép 8"/>
          <p:cNvPicPr/>
          <p:nvPr/>
        </p:nvPicPr>
        <p:blipFill>
          <a:blip r:embed="rId1"/>
          <a:stretch/>
        </p:blipFill>
        <p:spPr>
          <a:xfrm>
            <a:off x="150480" y="575856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Kép 3"/>
          <p:cNvPicPr/>
          <p:nvPr/>
        </p:nvPicPr>
        <p:blipFill>
          <a:blip r:embed="rId2"/>
          <a:stretch/>
        </p:blipFill>
        <p:spPr>
          <a:xfrm>
            <a:off x="11736720" y="6400800"/>
            <a:ext cx="304200" cy="3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Kép 4"/>
          <p:cNvPicPr/>
          <p:nvPr/>
        </p:nvPicPr>
        <p:blipFill>
          <a:blip r:embed="rId3"/>
          <a:stretch/>
        </p:blipFill>
        <p:spPr>
          <a:xfrm>
            <a:off x="11094480" y="152280"/>
            <a:ext cx="946440" cy="9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Kép 6"/>
          <p:cNvPicPr/>
          <p:nvPr/>
        </p:nvPicPr>
        <p:blipFill>
          <a:blip r:embed="rId4"/>
          <a:stretch/>
        </p:blipFill>
        <p:spPr>
          <a:xfrm>
            <a:off x="150480" y="152280"/>
            <a:ext cx="946440" cy="9464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5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9" dur="1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-tém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éma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 Startup by Slidesgo</Template>
  <TotalTime>4120</TotalTime>
  <Application>LibreOffice/26.2.2.2$Windows_X86_64 LibreOffice_project/1f77d10d6938fd34972958f64b2bcfa54f8b1ba5</Application>
  <AppVersion>15.0000</AppVersion>
  <Words>1192</Words>
  <Paragraphs>169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2026-04-15T12:36:58Z</dcterms:created>
  <dc:creator>Gábor Brückner</dc:creator>
  <dc:description/>
  <dc:language>hu-HU</dc:language>
  <cp:lastModifiedBy/>
  <dcterms:modified xsi:type="dcterms:W3CDTF">2026-04-26T18:42:32Z</dcterms:modified>
  <cp:revision>148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Szélesvásznú</vt:lpwstr>
  </property>
  <property fmtid="{D5CDD505-2E9C-101B-9397-08002B2CF9AE}" pid="4" name="Slides">
    <vt:i4>15</vt:i4>
  </property>
</Properties>
</file>